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7329600" y="670680"/>
            <a:ext cx="4428360" cy="1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942092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7010280" y="362880"/>
            <a:ext cx="4747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030a0"/>
                </a:solidFill>
                <a:latin typeface="Arial Narrow"/>
                <a:ea typeface="Arial Narrow"/>
              </a:rPr>
              <a:t>Nadimpalli Satyanarayana Raju Institute of Technology (NSRIT)</a:t>
            </a:r>
            <a:endParaRPr b="0" lang="en-IN" sz="1400" spc="-1" strike="noStrike">
              <a:latin typeface="Arial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0" y="-18000"/>
            <a:ext cx="884880" cy="6890040"/>
            <a:chOff x="0" y="-18000"/>
            <a:chExt cx="884880" cy="6890040"/>
          </a:xfrm>
        </p:grpSpPr>
        <p:pic>
          <p:nvPicPr>
            <p:cNvPr id="3" name="Google Shape;22;p32" descr="Shape  Description automatically generated"/>
            <p:cNvPicPr/>
            <p:nvPr/>
          </p:nvPicPr>
          <p:blipFill>
            <a:blip r:embed="rId2"/>
            <a:stretch/>
          </p:blipFill>
          <p:spPr>
            <a:xfrm>
              <a:off x="0" y="-18000"/>
              <a:ext cx="884880" cy="68900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Google Shape;23;p32" descr="Nadimpalli Satyanarayana Raju Institute of Technology (NSRIT), Visakhapatnam"/>
            <p:cNvPicPr/>
            <p:nvPr/>
          </p:nvPicPr>
          <p:blipFill>
            <a:blip r:embed="rId3"/>
            <a:stretch/>
          </p:blipFill>
          <p:spPr>
            <a:xfrm>
              <a:off x="128160" y="6072480"/>
              <a:ext cx="628920" cy="27972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7329600" y="670680"/>
            <a:ext cx="4428360" cy="1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942092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CustomShape 2"/>
          <p:cNvSpPr/>
          <p:nvPr/>
        </p:nvSpPr>
        <p:spPr>
          <a:xfrm>
            <a:off x="7010280" y="362880"/>
            <a:ext cx="4747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030a0"/>
                </a:solidFill>
                <a:latin typeface="Arial Narrow"/>
                <a:ea typeface="Arial Narrow"/>
              </a:rPr>
              <a:t>Nadimpalli Satyanarayana Raju Institute of Technology (NSRIT)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45" name="Google Shape;31;p33" descr="Shape  Description automatically generated"/>
          <p:cNvPicPr/>
          <p:nvPr/>
        </p:nvPicPr>
        <p:blipFill>
          <a:blip r:embed="rId2"/>
          <a:stretch/>
        </p:blipFill>
        <p:spPr>
          <a:xfrm>
            <a:off x="0" y="-18000"/>
            <a:ext cx="884880" cy="6890040"/>
          </a:xfrm>
          <a:prstGeom prst="rect">
            <a:avLst/>
          </a:prstGeom>
          <a:ln>
            <a:noFill/>
          </a:ln>
        </p:spPr>
      </p:pic>
      <p:pic>
        <p:nvPicPr>
          <p:cNvPr id="46" name="Google Shape;32;p33" descr="Nadimpalli Satyanarayana Raju Institute of Technology (NSRIT), Visakhapatnam"/>
          <p:cNvPicPr/>
          <p:nvPr/>
        </p:nvPicPr>
        <p:blipFill>
          <a:blip r:embed="rId3"/>
          <a:stretch/>
        </p:blipFill>
        <p:spPr>
          <a:xfrm>
            <a:off x="128160" y="6072480"/>
            <a:ext cx="628920" cy="279720"/>
          </a:xfrm>
          <a:prstGeom prst="rect">
            <a:avLst/>
          </a:prstGeom>
          <a:ln>
            <a:noFill/>
          </a:ln>
        </p:spPr>
      </p:pic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edit the </a:t>
            </a:r>
            <a:r>
              <a:rPr b="0" lang="en-IN" sz="4400" spc="-1" strike="noStrike">
                <a:latin typeface="Arial"/>
              </a:rPr>
              <a:t>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1300680" y="900720"/>
            <a:ext cx="10414800" cy="106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942092"/>
                </a:solidFill>
                <a:latin typeface="Arial Narrow"/>
                <a:ea typeface="Arial Narrow"/>
              </a:rPr>
              <a:t>Design and Analysis of Approximate Multiplier for Low-Power AI Applications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8562240" y="2895480"/>
            <a:ext cx="29192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868680" indent="-864720"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Presented by</a:t>
            </a:r>
            <a:endParaRPr b="0" lang="en-IN" sz="2000" spc="-1" strike="noStrike">
              <a:latin typeface="Arial"/>
            </a:endParaRPr>
          </a:p>
          <a:p>
            <a:pPr marL="868680" indent="-864720"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Sesetti Gayathri</a:t>
            </a:r>
            <a:endParaRPr b="0" lang="en-IN" sz="2000" spc="-1" strike="noStrike">
              <a:latin typeface="Arial"/>
            </a:endParaRPr>
          </a:p>
          <a:p>
            <a:pPr marL="868680" indent="-864720"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25NU1D7712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1274760" y="3075840"/>
            <a:ext cx="4097160" cy="116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28600" indent="-224640" algn="ctr">
              <a:lnSpc>
                <a:spcPct val="9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Under the esteemed guidance of</a:t>
            </a:r>
            <a:endParaRPr b="0" lang="en-IN" sz="2000" spc="-1" strike="noStrike">
              <a:latin typeface="Arial"/>
            </a:endParaRPr>
          </a:p>
          <a:p>
            <a:pPr marL="228600" indent="-224640"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Mr. S. Balarama Murthy</a:t>
            </a:r>
            <a:endParaRPr b="0" lang="en-IN" sz="2000" spc="-1" strike="noStrike">
              <a:latin typeface="Arial"/>
            </a:endParaRPr>
          </a:p>
          <a:p>
            <a:pPr marL="228600" indent="-224640"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Associate Professor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9" name="CustomShape 5"/>
          <p:cNvSpPr/>
          <p:nvPr/>
        </p:nvSpPr>
        <p:spPr>
          <a:xfrm>
            <a:off x="1815120" y="4631400"/>
            <a:ext cx="95140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2060"/>
                </a:solidFill>
                <a:latin typeface="Arial Narrow"/>
                <a:ea typeface="Arial Narrow"/>
              </a:rPr>
              <a:t>DEPARTMENT OF ELECTRONICS AND COMMUNICATION ENGINEERING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0" name="CustomShape 6"/>
          <p:cNvSpPr/>
          <p:nvPr/>
        </p:nvSpPr>
        <p:spPr>
          <a:xfrm>
            <a:off x="1787400" y="5185440"/>
            <a:ext cx="9514080" cy="94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Arial Narrow"/>
                <a:ea typeface="Arial Narrow"/>
              </a:rPr>
              <a:t>NADIMPALLI SATYANARAYANA RAJU INSTITUTE OF TECHNOLOGY (A)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1A7EF04-35EB-4F95-BE7C-BE0B0504622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INDEX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1440720" y="1496160"/>
            <a:ext cx="7000920" cy="458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453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Abstract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Existing Work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Software Tools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Exact Multiplier Design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Approximate Multiplier Design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Synthesis Outputs (Vivado)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Simulation Results (GTKWave)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Error Analysis (Python Metrics)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Synthesis Results (Hardware Comparison)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Applications</a:t>
            </a:r>
            <a:endParaRPr b="0" lang="en-IN" sz="2000" spc="-1" strike="noStrike">
              <a:latin typeface="Arial"/>
            </a:endParaRPr>
          </a:p>
          <a:p>
            <a:pPr marL="457200" indent="-4532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Conclusion &amp; Future Work</a:t>
            </a:r>
            <a:endParaRPr b="0" lang="en-IN" sz="2000" spc="-1" strike="noStrike">
              <a:latin typeface="Arial"/>
            </a:endParaRPr>
          </a:p>
          <a:p>
            <a:pPr marL="457200" indent="-4536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 Narrow"/>
                <a:ea typeface="Arial Narrow"/>
              </a:rPr>
              <a:t>References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0AB0FB2-11D2-4277-B673-0864CD02B01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ABSTRACT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900000" y="1323360"/>
            <a:ext cx="11026080" cy="473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AI and deep learning applications are growing rapidly and need hardware that is fast, small, and uses less power. Multiplication is the most commonly used and resource-heavy operation in AI systems.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Approximate computing allows hardware to make small, bounded errors — since AI applications remain accurate despite tiny errors, approximate multipliers help reduce power, area, and hardware complexity.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This project designs and analyzes a 4-bit × 4-bit approximate multiplier for low-power AI applications.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An exact multiplier is first designed in Verilog HDL using the standard partial-product method, always producing the correct answer and serving as the reference for comparison.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An approximate multiplier is then designed by removing some smaller partial products and keeping only the important larger ones, making the circuit simpler and more power-efficient.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Both designs are tested using Icarus Verilog and GTKWave, synthesized on Xilinx Vivado to measure LUT usage, speed, and power, and compared using Python to calculate the error.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The results show that the approximate multiplier offers a practical trade-off between hardware savings and accuracy, making it well suited for low-power AI hardware.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Keywords: </a:t>
            </a:r>
            <a:r>
              <a:rPr b="0" i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Approximate Computing, Approximate Multiplier, AI Applications, Partial Product Truncation, Verilog HDL, Low-Power VLSI.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9A183CB-315B-4004-9CD0-F74CDC4AC5C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IN" sz="2800" spc="-1" strike="noStrike">
                <a:solidFill>
                  <a:srgbClr val="4472c4"/>
                </a:solidFill>
                <a:latin typeface="Calibri"/>
                <a:ea typeface="DejaVu Sans"/>
              </a:rPr>
              <a:t>EXISTING WORK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900000" y="1599840"/>
            <a:ext cx="11026080" cy="439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97000"/>
          </a:bodyPr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Base paper designs a low-power approximate 8×8 unsigned multiplier for deep neural network (DNN) applications, built around a custom 4:2 compressor using NOR/NAND-based logic for a short critical path.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The compressor makes an error in only 1 out of 256 input combinations. Synthesized in Verilog HDL on Cadence Genus (UMC 90nm), it achieves up to 30.24% energy and 33.14% power savings over existing designs, with MRED of just 0.109%.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Validated on real DNN tasks: MNIST digit recognition using LeNet-5 (98.24% exact vs 96.45% approximate) and FFDNet image denoising — confirming the approximation barely affects DNN performance.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Research Gap</a:t>
            </a: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: this accuracy needs a fully custom-redesigned compressor (Area 30.57 µm², Delay 237ps) verified on a commercial EDA flow (Cadence Genus, 90nm) — high design and verification cost, not achievable with open-source tools. An 8×8 design also needs exhaustive verification across 65,536 input combinations, which is heavy for open-source simulation flows — so this project targets a 4×4 multiplier, enabling full exhaustive verification (all 256 combinations) while validating the same truncation-based approximation technique, extensible to 8×8 and higher-order multipliers as future work.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My Project achieves a similar trade-off with simple partial-product truncation: 37.5% LUT reduction, 17.0% delay reduction, and 45.7% power reduction over an exact multiplier — verified entirely on free, open-source tools (Icarus Verilog, GTKWave, Vivado WebPACK).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3DFAB988-D48E-4EC1-8AA3-D40EB2C2992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4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IN" sz="2800" spc="-1" strike="noStrike">
                <a:solidFill>
                  <a:srgbClr val="4472c4"/>
                </a:solidFill>
                <a:latin typeface="Calibri"/>
                <a:ea typeface="DejaVu Sans"/>
              </a:rPr>
              <a:t>SOFTWARE TOOLS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900000" y="1599840"/>
            <a:ext cx="11026080" cy="439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VS Code (Latest stable) — RTL and Python code editing.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Icarus Verilog (10.3) — Verilog compilation and simulation.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GTKWave (3.3.103) — Waveform inspection (VCD).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Python 3 (3.8.10) with NumPy / Matplotlib (Latest) — Error analysis, numerical analysis, and plotting.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rgbClr val="000000"/>
                </a:solidFill>
                <a:latin typeface="Arial Narrow"/>
                <a:ea typeface="DejaVu Sans"/>
              </a:rPr>
              <a:t>Vivado WebPACK (2026.1) — Synthesis and timing/power reports. Installed via apt (Icarus Verilog, GTKWave, Python) and pip (NumPy, Matplotlib, pandas); verified with iverilog -V, gtkwave --version, and python3 --version.</a:t>
            </a:r>
            <a:endParaRPr b="0" lang="en-IN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1DF5BEE-4CA5-4F04-BE8B-1A7C10A12C7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5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EXACT MULTIPLIER — PARTIAL PRODUCT METHOD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900000" y="1323360"/>
            <a:ext cx="5245920" cy="48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39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 4-bit × 4-bit multiplication generates four partial products (pp0–pp3), each formed by shifting A according to a bit of B.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All four partial products are summed to produce the 8-bit result — mathematically perfect for every input.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Verified across all 256 possible 4-bit input combinations — zero error, 100% exhaustive coverage.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Worked Example: 10 × 12 = 120 → pp2 = 00101000, pp3 = 01010000, Sum = 01111000 = 120.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Serves as the golden reference used to measure the accuracy and hardware savings of the approximate design.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6350040" y="1323360"/>
            <a:ext cx="5576040" cy="41961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600">
            <a:solidFill>
              <a:srgbClr val="3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fc3f7"/>
                </a:solidFill>
                <a:latin typeface="Consolas"/>
                <a:ea typeface="Consolas"/>
              </a:rPr>
              <a:t>exact_multiplier.v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module exact_multiplier (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input  [3:0] A, B,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output [7:0] P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pp0 = B[0]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{4'b0, A}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pp1 = B[1]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{3'b0, A, 1'b0}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pp2 = B[2]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{2'b0, A, 2'b0}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pp3 = B[3]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{1'b0, A, 3'b0}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assign P = pp0+pp1+pp2+pp3;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endmodule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F019CB4-9B93-4654-BBD8-F46E891CDB6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6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EXACT MULTIPLIER — BLOCK DIAGRAM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5" name="CustomShape 3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0C4390F-5A0D-496E-B42B-EDFFEDC9D80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6</a:t>
            </a:fld>
            <a:endParaRPr b="0" lang="en-IN" sz="1200" spc="-1" strike="noStrike">
              <a:latin typeface="Arial"/>
            </a:endParaRPr>
          </a:p>
        </p:txBody>
      </p:sp>
      <p:pic>
        <p:nvPicPr>
          <p:cNvPr id="116" name="ExactBlockDiagram" descr="Exact multiplier block diagram"/>
          <p:cNvPicPr/>
          <p:nvPr/>
        </p:nvPicPr>
        <p:blipFill>
          <a:blip r:embed="rId1"/>
          <a:stretch/>
        </p:blipFill>
        <p:spPr>
          <a:xfrm>
            <a:off x="1599120" y="1299960"/>
            <a:ext cx="8991360" cy="4947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APPROXIMATE MULTIPLIER — PARTIAL-PRODUCT TRUNCATION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9" name="CustomShape 3"/>
          <p:cNvSpPr/>
          <p:nvPr/>
        </p:nvSpPr>
        <p:spPr>
          <a:xfrm>
            <a:off x="900000" y="1323360"/>
            <a:ext cx="5245920" cy="48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39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The approximate multiplier drops pp0 entirely and truncates pp1, keeping pp2 and pp3 fully intact.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pp3 &amp; pp2: fully kept  |  pp1: truncated (LSB dropped)  |  pp0: dropped entirely.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Removing one full-adder level shortens the critical path, reduces LUT usage, and lowers switching power.</a:t>
            </a:r>
            <a:endParaRPr b="0" lang="en-IN" sz="1800" spc="-1" strike="noStrike">
              <a:latin typeface="Arial"/>
            </a:endParaRPr>
          </a:p>
          <a:p>
            <a:pPr marL="343080" indent="-3391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Both the exact and approximate multipliers share a common testbench so their outputs can be directly compared.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6350040" y="1323360"/>
            <a:ext cx="5576040" cy="41961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600">
            <a:solidFill>
              <a:srgbClr val="3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37160" bIns="1371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fc3f7"/>
                </a:solidFill>
                <a:latin typeface="Consolas"/>
                <a:ea typeface="Consolas"/>
              </a:rPr>
              <a:t>approx_multiplier.v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pp3 = B[3]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{1'b0,A,3'b0}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pp2 = B[2]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{2'b0,A,2'b0}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wire [7:0] pp1_approx = B[1] ?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{3'b0,A[3:1],2'b0} : 8'b0;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6a9955"/>
                </a:solidFill>
                <a:latin typeface="Consolas"/>
                <a:ea typeface="Consolas"/>
              </a:rPr>
              <a:t>// pp0 dropped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assign P = pp1_approx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         </a:t>
            </a:r>
            <a:r>
              <a:rPr b="0" lang="en-US" sz="1400" spc="-1" strike="noStrike">
                <a:solidFill>
                  <a:srgbClr val="d4d4d4"/>
                </a:solidFill>
                <a:latin typeface="Consolas"/>
                <a:ea typeface="Consolas"/>
              </a:rPr>
              <a:t>+ pp2 + pp3;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1840BD2-46BA-417B-B7F5-291622D6E49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APPROXIMATE MULTIPLIER — BLOCK DIAGRAM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F1D55F7-461A-49DE-BFA6-7D6EA7E20AB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pic>
        <p:nvPicPr>
          <p:cNvPr id="125" name="ApproxBlockDiagram" descr="Approximate multiplier block diagram"/>
          <p:cNvPicPr/>
          <p:nvPr/>
        </p:nvPicPr>
        <p:blipFill>
          <a:blip r:embed="rId1"/>
          <a:stretch/>
        </p:blipFill>
        <p:spPr>
          <a:xfrm>
            <a:off x="1599120" y="1299960"/>
            <a:ext cx="8991360" cy="4947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B517A2F-209F-40FD-8041-41A7491D49D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SYNTHESIS OUTPUTS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9" name="CustomShape 4"/>
          <p:cNvSpPr/>
          <p:nvPr/>
        </p:nvSpPr>
        <p:spPr>
          <a:xfrm>
            <a:off x="900000" y="1329840"/>
            <a:ext cx="110260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Vivado synthesized-design view — Exact Multiplier (Xilinx Artix-7, xc7a35tcpg236-1)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30" name="ExactSynthImg" descr="Exact Multiplier synthesized schematic"/>
          <p:cNvPicPr/>
          <p:nvPr/>
        </p:nvPicPr>
        <p:blipFill>
          <a:blip r:embed="rId1"/>
          <a:stretch/>
        </p:blipFill>
        <p:spPr>
          <a:xfrm>
            <a:off x="3783240" y="1749960"/>
            <a:ext cx="5259960" cy="2997720"/>
          </a:xfrm>
          <a:prstGeom prst="rect">
            <a:avLst/>
          </a:prstGeom>
          <a:ln>
            <a:noFill/>
          </a:ln>
        </p:spPr>
      </p:pic>
      <p:sp>
        <p:nvSpPr>
          <p:cNvPr id="131" name="CustomShape 5"/>
          <p:cNvSpPr/>
          <p:nvPr/>
        </p:nvSpPr>
        <p:spPr>
          <a:xfrm>
            <a:off x="900000" y="4830120"/>
            <a:ext cx="110260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Exact Multiplier — Synthesized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" name="CustomShape 6"/>
          <p:cNvSpPr/>
          <p:nvPr/>
        </p:nvSpPr>
        <p:spPr>
          <a:xfrm>
            <a:off x="900000" y="5274000"/>
            <a:ext cx="11026080" cy="68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Leaf cells: 38 — synthesized cell count for the exact multiplier design.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Nets: 58 — interconnect nets in the exact multiplier design.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4210E80-2434-4A56-8A36-1CAB57913E7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SYNTHESIS OUTPUTS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6" name="CustomShape 4"/>
          <p:cNvSpPr/>
          <p:nvPr/>
        </p:nvSpPr>
        <p:spPr>
          <a:xfrm>
            <a:off x="900000" y="1329840"/>
            <a:ext cx="110260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Vivado synthesized-design view — Approximate Multiplier (Xilinx Artix-7, xc7a35tcpg236-1)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37" name="ApproxSynthImg" descr="Approximate Multiplier synthesized schematic"/>
          <p:cNvPicPr/>
          <p:nvPr/>
        </p:nvPicPr>
        <p:blipFill>
          <a:blip r:embed="rId1"/>
          <a:stretch/>
        </p:blipFill>
        <p:spPr>
          <a:xfrm>
            <a:off x="3740040" y="1749960"/>
            <a:ext cx="5346000" cy="2997720"/>
          </a:xfrm>
          <a:prstGeom prst="rect">
            <a:avLst/>
          </a:prstGeom>
          <a:ln>
            <a:noFill/>
          </a:ln>
        </p:spPr>
      </p:pic>
      <p:sp>
        <p:nvSpPr>
          <p:cNvPr id="138" name="CustomShape 5"/>
          <p:cNvSpPr/>
          <p:nvPr/>
        </p:nvSpPr>
        <p:spPr>
          <a:xfrm>
            <a:off x="900000" y="4830120"/>
            <a:ext cx="110260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Approximate Multiplier — Synthesized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900000" y="5274000"/>
            <a:ext cx="11026080" cy="68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Leaf cells: 29 — fewer synthesized cells confirm the reduced logic footprint (vs 38 for exact).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Nets: 36 — simplified partial-product interconnect (vs 58 for exact).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F14C40F-26FD-4EAE-86FC-6346720D76D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SIMULATION RESULTS — GTKWAVE VERIFICATION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900000" y="1329840"/>
            <a:ext cx="110260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Common testbench applies all 256 input combinations to both designs simultaneously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44" name="GTKWaveImg" descr="GTKWave simulation waveform"/>
          <p:cNvPicPr/>
          <p:nvPr/>
        </p:nvPicPr>
        <p:blipFill>
          <a:blip r:embed="rId1"/>
          <a:stretch/>
        </p:blipFill>
        <p:spPr>
          <a:xfrm>
            <a:off x="900000" y="1649880"/>
            <a:ext cx="10387800" cy="3791160"/>
          </a:xfrm>
          <a:prstGeom prst="rect">
            <a:avLst/>
          </a:prstGeom>
          <a:ln>
            <a:noFill/>
          </a:ln>
        </p:spPr>
      </p:pic>
      <p:sp>
        <p:nvSpPr>
          <p:cNvPr id="145" name="CustomShape 5"/>
          <p:cNvSpPr/>
          <p:nvPr/>
        </p:nvSpPr>
        <p:spPr>
          <a:xfrm>
            <a:off x="900000" y="5550120"/>
            <a:ext cx="110260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Observation: Outputs match exactly for (3,5), (4,6), (6,6) — dropped bits don’t contribute. Visible divergence appears for (1,8), (7,2), (15,15), (9,3), (12,11).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ERROR ANALYSIS — PYTHON METRICS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148" name="ErrorChart" descr="Error distribution bar chart"/>
          <p:cNvPicPr/>
          <p:nvPr/>
        </p:nvPicPr>
        <p:blipFill>
          <a:blip r:embed="rId1"/>
          <a:stretch/>
        </p:blipFill>
        <p:spPr>
          <a:xfrm>
            <a:off x="1160640" y="1512000"/>
            <a:ext cx="6673320" cy="3334680"/>
          </a:xfrm>
          <a:prstGeom prst="rect">
            <a:avLst/>
          </a:prstGeom>
          <a:ln>
            <a:noFill/>
          </a:ln>
        </p:spPr>
      </p:pic>
      <p:sp>
        <p:nvSpPr>
          <p:cNvPr id="149" name="CustomShape 3"/>
          <p:cNvSpPr/>
          <p:nvPr/>
        </p:nvSpPr>
        <p:spPr>
          <a:xfrm>
            <a:off x="7899840" y="1500120"/>
            <a:ext cx="3588120" cy="721080"/>
          </a:xfrm>
          <a:prstGeom prst="roundRect">
            <a:avLst>
              <a:gd name="adj" fmla="val 6000"/>
            </a:avLst>
          </a:prstGeom>
          <a:solidFill>
            <a:schemeClr val="accent1">
              <a:alpha val="10000"/>
            </a:schemeClr>
          </a:solidFill>
          <a:ln w="9360">
            <a:solidFill>
              <a:schemeClr val="accent1">
                <a:alpha val="3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1" lang="en-US" sz="3000" spc="-1" strike="noStrike">
                <a:solidFill>
                  <a:srgbClr val="2f5496"/>
                </a:solidFill>
                <a:latin typeface="Calibri"/>
                <a:ea typeface="Calibri"/>
              </a:rPr>
              <a:t>4.25</a:t>
            </a:r>
            <a:endParaRPr b="0" lang="en-IN" sz="3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 Narrow"/>
                <a:ea typeface="Arial Narrow"/>
              </a:rPr>
              <a:t>Mean Error Distance (MED)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" name="CustomShape 4"/>
          <p:cNvSpPr/>
          <p:nvPr/>
        </p:nvSpPr>
        <p:spPr>
          <a:xfrm>
            <a:off x="7899840" y="2324880"/>
            <a:ext cx="3588120" cy="721080"/>
          </a:xfrm>
          <a:prstGeom prst="roundRect">
            <a:avLst>
              <a:gd name="adj" fmla="val 6000"/>
            </a:avLst>
          </a:prstGeom>
          <a:solidFill>
            <a:schemeClr val="accent1">
              <a:alpha val="10000"/>
            </a:schemeClr>
          </a:solidFill>
          <a:ln w="9360">
            <a:solidFill>
              <a:schemeClr val="accent1">
                <a:alpha val="3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1" lang="en-US" sz="3000" spc="-1" strike="noStrike">
                <a:solidFill>
                  <a:srgbClr val="2f5496"/>
                </a:solidFill>
                <a:latin typeface="Calibri"/>
                <a:ea typeface="Calibri"/>
              </a:rPr>
              <a:t>59.38%</a:t>
            </a:r>
            <a:endParaRPr b="0" lang="en-IN" sz="3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 Narrow"/>
                <a:ea typeface="Arial Narrow"/>
              </a:rPr>
              <a:t>Error Rate (ER)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1" name="CustomShape 5"/>
          <p:cNvSpPr/>
          <p:nvPr/>
        </p:nvSpPr>
        <p:spPr>
          <a:xfrm>
            <a:off x="7899840" y="3150000"/>
            <a:ext cx="3588120" cy="721080"/>
          </a:xfrm>
          <a:prstGeom prst="roundRect">
            <a:avLst>
              <a:gd name="adj" fmla="val 6000"/>
            </a:avLst>
          </a:prstGeom>
          <a:solidFill>
            <a:schemeClr val="accent1">
              <a:alpha val="10000"/>
            </a:schemeClr>
          </a:solidFill>
          <a:ln w="9360">
            <a:solidFill>
              <a:schemeClr val="accent1">
                <a:alpha val="3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1" lang="en-US" sz="3000" spc="-1" strike="noStrike">
                <a:solidFill>
                  <a:srgbClr val="2f5496"/>
                </a:solidFill>
                <a:latin typeface="Calibri"/>
                <a:ea typeface="Calibri"/>
              </a:rPr>
              <a:t>17</a:t>
            </a:r>
            <a:endParaRPr b="0" lang="en-IN" sz="3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 Narrow"/>
                <a:ea typeface="Arial Narrow"/>
              </a:rPr>
              <a:t>Max Error Distance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2" name="CustomShape 6"/>
          <p:cNvSpPr/>
          <p:nvPr/>
        </p:nvSpPr>
        <p:spPr>
          <a:xfrm>
            <a:off x="7899840" y="3975120"/>
            <a:ext cx="3588120" cy="721080"/>
          </a:xfrm>
          <a:prstGeom prst="roundRect">
            <a:avLst>
              <a:gd name="adj" fmla="val 6000"/>
            </a:avLst>
          </a:prstGeom>
          <a:solidFill>
            <a:schemeClr val="accent1">
              <a:alpha val="10000"/>
            </a:schemeClr>
          </a:solidFill>
          <a:ln w="9360">
            <a:solidFill>
              <a:schemeClr val="accent1">
                <a:alpha val="3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b="1" lang="en-US" sz="3000" spc="-1" strike="noStrike">
                <a:solidFill>
                  <a:srgbClr val="2f5496"/>
                </a:solidFill>
                <a:latin typeface="Calibri"/>
                <a:ea typeface="Calibri"/>
              </a:rPr>
              <a:t>16.12%</a:t>
            </a:r>
            <a:endParaRPr b="0" lang="en-IN" sz="3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 Narrow"/>
                <a:ea typeface="Arial Narrow"/>
              </a:rPr>
              <a:t>Mean Relative Error (MRE)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900000" y="4849920"/>
            <a:ext cx="11026080" cy="91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Errors increase with operand magnitude but remain bounded (Max Error Distance = 17) — a predictable pattern that AI workloads can tolerate.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Max error (17) occurs at the largest operand pairs: (A=15, B=3), (15, 7), (15, 11), (15, 15).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4" name="CustomShape 8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BF473A1-3DBB-4906-BF1D-024791C790B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472c4"/>
                </a:solidFill>
                <a:latin typeface="Calibri"/>
                <a:ea typeface="Calibri"/>
              </a:rPr>
              <a:t>SYNTHESIS RESULTS — HARDWARE COMPARISON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84FC578-5E57-459B-94AE-7479E02F26E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>
            <a:off x="900000" y="1329840"/>
            <a:ext cx="11026080" cy="25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Synthesis results from Vivado 2026.1, target device xc7a35tcpg236-1 (Artix-7).</a:t>
            </a:r>
            <a:endParaRPr b="1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9" name="Table 5"/>
          <p:cNvGraphicFramePr/>
          <p:nvPr/>
        </p:nvGraphicFramePr>
        <p:xfrm>
          <a:off x="1234080" y="1818360"/>
          <a:ext cx="10632240" cy="2599560"/>
        </p:xfrm>
        <a:graphic>
          <a:graphicData uri="http://schemas.openxmlformats.org/drawingml/2006/table">
            <a:tbl>
              <a:tblPr/>
              <a:tblGrid>
                <a:gridCol w="2796120"/>
                <a:gridCol w="2506680"/>
                <a:gridCol w="2506680"/>
                <a:gridCol w="2822760"/>
              </a:tblGrid>
              <a:tr h="619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 Narrow"/>
                          <a:ea typeface="Arial Narrow"/>
                        </a:rPr>
                        <a:t>Metric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 Narrow"/>
                          <a:ea typeface="Arial Narrow"/>
                        </a:rPr>
                        <a:t>Exact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 Narrow"/>
                          <a:ea typeface="Arial Narrow"/>
                        </a:rPr>
                        <a:t>Approximate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 Narrow"/>
                          <a:ea typeface="Arial Narrow"/>
                        </a:rPr>
                        <a:t>Savings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6598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LUTs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16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10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f5496"/>
                          </a:solidFill>
                          <a:latin typeface="Arial Narrow"/>
                          <a:ea typeface="Arial Narrow"/>
                        </a:rPr>
                        <a:t>37.5%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8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Critical Path Delay (ns)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6.990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5.804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f5496"/>
                          </a:solidFill>
                          <a:latin typeface="Arial Narrow"/>
                          <a:ea typeface="Arial Narrow"/>
                        </a:rPr>
                        <a:t>17.0%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eef2fa"/>
                    </a:solidFill>
                  </a:tcPr>
                </a:tc>
              </a:tr>
              <a:tr h="6598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Total On-Chip Power (W)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4.717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</a:rPr>
                        <a:t>2.563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f5496"/>
                          </a:solidFill>
                          <a:latin typeface="Arial Narrow"/>
                          <a:ea typeface="Arial Narrow"/>
                        </a:rPr>
                        <a:t>45.7%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1440" marR="91440">
                    <a:lnL w="6480">
                      <a:solidFill>
                        <a:srgbClr val="d9d9d9"/>
                      </a:solidFill>
                    </a:lnL>
                    <a:lnR w="6480">
                      <a:solidFill>
                        <a:srgbClr val="d9d9d9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CustomShape 6"/>
          <p:cNvSpPr/>
          <p:nvPr/>
        </p:nvSpPr>
        <p:spPr>
          <a:xfrm>
            <a:off x="900000" y="4692600"/>
            <a:ext cx="11026080" cy="12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LUT count and Total On-Chip Power taken from report_utilization and report_power on the synthesized design.</a:t>
            </a:r>
            <a:endParaRPr b="0" lang="en-IN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Critical Path Delay is the Data Path Delay from report_timing (max path), since both designs are purely combinational with no clock defined.</a:t>
            </a:r>
            <a:endParaRPr b="0" lang="en-IN" sz="1800" spc="-1" strike="noStrike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The approximate multiplier cuts LUT usage by 37.5%, delay by 17.0%, and power by 45.7% compared with the exact design.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f5496"/>
                </a:solidFill>
                <a:latin typeface="Calibri"/>
                <a:ea typeface="Calibri"/>
              </a:rPr>
              <a:t>APPLICATIONS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3" name="CustomShape 3"/>
          <p:cNvSpPr/>
          <p:nvPr/>
        </p:nvSpPr>
        <p:spPr>
          <a:xfrm>
            <a:off x="1027800" y="1252080"/>
            <a:ext cx="10460520" cy="349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Edge-AI Inference Accelerators — </a:t>
            </a: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smart cameras and surveillance systems performing on-device object detection (e.g., person or vehicle recognition) need fast, low-power hardware to avoid constant cloud offloading, extending battery life for always-on operation.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Low-Power IoT &amp; Wearable Devices — </a:t>
            </a: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fitness bands and smartwatches running on-device health analytics, such as heart-rate anomaly or fall detection, operate on tiny batteries for days at a time, so every milliwatt saved in the multiplier directly extends usable battery life.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Real-Time Signal Processing — </a:t>
            </a: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voice-assistant wake-word detection (e.g., “Hey Siri”, “OK Google”) on hearables and smart speakers must continuously process audio streams within strict power and latency budgets, making approximate multipliers well suited for always-listening front ends.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Mobile Neural-Network Hardware — </a:t>
            </a: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smartphone NPUs handling everyday on-device AI tasks, such as face unlock, camera scene detection, and live translation, rely on millions of multiply operations per second; approximate multipliers cut power without noticeably affecting user-facing accuracy.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4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22064A1-64F7-42A2-8FF8-4A8EA204BA6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f5496"/>
                </a:solidFill>
                <a:latin typeface="Calibri"/>
                <a:ea typeface="Calibri"/>
              </a:rPr>
              <a:t>CONCLUSION &amp; FUTURE WORK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7" name="CustomShape 3"/>
          <p:cNvSpPr/>
          <p:nvPr/>
        </p:nvSpPr>
        <p:spPr>
          <a:xfrm>
            <a:off x="1027800" y="1252080"/>
            <a:ext cx="10460520" cy="336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indent="-351720" algn="just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2f5496"/>
                </a:solidFill>
                <a:latin typeface="Arial Narrow"/>
                <a:ea typeface="Arial Narrow"/>
              </a:rPr>
              <a:t>Conclusion: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Exact multiplier: zero error across all 256 test cases (golden reference).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Approximate design: 37.5% fewer LUTs, 17.0% less delay, 45.7% less power.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Error stays bounded (Max Error Distance = 17) and data-dependent.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AI matrix-multiply demo confirms inference quality is still acceptable.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A small, controlled error buys big gains in speed, size, and power.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1800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2f5496"/>
                </a:solidFill>
                <a:latin typeface="Arial Narrow"/>
                <a:ea typeface="Arial Narrow"/>
              </a:rPr>
              <a:t>Future Work: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Scale the design to 8×8 and 16×16 multipliers.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Explore signed multiplication and other approximate techniques.</a:t>
            </a:r>
            <a:endParaRPr b="0" lang="en-IN" sz="1800" spc="-1" strike="noStrike">
              <a:latin typeface="Arial"/>
            </a:endParaRPr>
          </a:p>
          <a:p>
            <a:pPr marL="457200" indent="-351720" algn="just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 Narrow"/>
                <a:ea typeface="Arial Narrow"/>
              </a:rPr>
              <a:t>Validate the design on real FPGA hardware.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8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D74CD6B-D4CC-4289-A023-352A1E4588D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19-Jun-26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900000" y="600120"/>
            <a:ext cx="110260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f5496"/>
                </a:solidFill>
                <a:latin typeface="Calibri"/>
                <a:ea typeface="Calibri"/>
              </a:rPr>
              <a:t>REFERENCES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71" name="CustomShape 3"/>
          <p:cNvSpPr/>
          <p:nvPr/>
        </p:nvSpPr>
        <p:spPr>
          <a:xfrm>
            <a:off x="1027800" y="1252080"/>
            <a:ext cx="10460520" cy="467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[1]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Sathiya, Prabhavathy, Balasupramani, Amutha, Kavitha, Saravanakumar, "Low Power Approximate Multiplier Architecture for Deep Neural Networks," 2025 International Conference on Visual Analytics and Data Visualization (ICVADV), pp. 541–548, 2025. DOI: 10.1109/ICVADV63329.2025.10961086. [Base Paper]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[2]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V. Gupta, D. Mohapatra, S. P. Park, A. Raghunathan, K. Roy, "IMPACT: IMPrecise adders for low-power approximate computing," IEEE/ACM Int. Symp. on Low Power Electronics and Design (ISLPED), pp. 409–414, 2011. DOI: 10.1109/ISLPED.2011.5993675.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[3]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Z. Aizaz, K. Khare, A. Tirmizi, "Efficient Approximate Multipliers for Neural Network Applications," in Computational Intelligence in Data Mining, Springer, 2022. DOI: 10.1007/978-981-16-9447-9_44.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[4]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S. S. Sarwar, S. Venkataramani, A. Ankit, A. Raghunathan, K. Roy, "Energy-efficient neural computing with approximate multipliers," ACM Journal on Emerging Technologies in Computing Systems, vol. 14, no. 2, 2018.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[5]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H. Waris, C. Wang, W. Liu, J. Han, F. Lombardi, "Hybrid partial product-based high-performance approximate recursive multipliers," IEEE Transactions on Emerging Topics in Computing, vol. 10, no. 1, pp. 507–513, 2022. DOI: 10.1109/TETC.2020.3013977.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[6]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Q. Xu, T. Mytkowicz, N. S. Kim, "Approximate computing: A survey," IEEE Design &amp; Test, vol. 33, no. 1, pp. 8–22, 2016. DOI: 10.1109/MDAT.2015.2505723.</a:t>
            </a:r>
            <a:endParaRPr b="0" lang="en-IN" sz="1600" spc="-1" strike="noStrike">
              <a:latin typeface="Arial"/>
            </a:endParaRPr>
          </a:p>
          <a:p>
            <a:pPr marL="399960" indent="-397800" algn="just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[7] </a:t>
            </a:r>
            <a:r>
              <a:rPr b="0" lang="en-US" sz="1600" spc="-1" strike="noStrike">
                <a:solidFill>
                  <a:srgbClr val="000000"/>
                </a:solidFill>
                <a:latin typeface="Arial Narrow"/>
                <a:ea typeface="Arial Narrow"/>
              </a:rPr>
              <a:t>A. G. M. Strollo, E. Napoli, D. De Caro, N. Petra, G. D. Meo, "Comparison and extension of approximate 4–2 compressors for low-power approximate multipliers," IEEE Transactions on Circuits and Systems I, vol. 67, no. 9, pp. 3021–3034, 2020. DOI: 10.1109/TCSI.2020.2988353.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CC91381-5EB3-461D-A2B3-BCE04011084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378680" y="2690280"/>
            <a:ext cx="401004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4472c4"/>
                </a:solidFill>
                <a:latin typeface="Calibri"/>
                <a:ea typeface="Calibri"/>
              </a:rPr>
              <a:t>THANK YOU</a:t>
            </a:r>
            <a:endParaRPr b="0" lang="en-IN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2021-07-17T18:48:11Z</dcterms:created>
  <dc:creator>murugadoss doss</dc:creator>
  <dc:description/>
  <dc:language>en-IN</dc:language>
  <cp:lastModifiedBy/>
  <dcterms:modified xsi:type="dcterms:W3CDTF">2026-07-15T12:46:01Z</dcterms:modified>
  <cp:revision>13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ICV">
    <vt:lpwstr>1822ba4b81154a42b7207c84df59df26</vt:lpwstr>
  </property>
  <property fmtid="{D5CDD505-2E9C-101B-9397-08002B2CF9AE}" pid="6" name="LinksUpToDate">
    <vt:bool>0</vt:bool>
  </property>
  <property fmtid="{D5CDD505-2E9C-101B-9397-08002B2CF9AE}" pid="7" name="Notes">
    <vt:i4>33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33</vt:i4>
  </property>
</Properties>
</file>